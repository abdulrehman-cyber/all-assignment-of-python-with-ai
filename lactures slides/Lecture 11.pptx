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60" r:id="rId4"/>
    <p:sldId id="276" r:id="rId5"/>
    <p:sldId id="263" r:id="rId6"/>
    <p:sldId id="275" r:id="rId7"/>
    <p:sldId id="274" r:id="rId8"/>
    <p:sldId id="277" r:id="rId9"/>
    <p:sldId id="281" r:id="rId10"/>
    <p:sldId id="278" r:id="rId11"/>
    <p:sldId id="280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192" autoAdjust="0"/>
  </p:normalViewPr>
  <p:slideViewPr>
    <p:cSldViewPr snapToGrid="0">
      <p:cViewPr varScale="1">
        <p:scale>
          <a:sx n="64" d="100"/>
          <a:sy n="64" d="100"/>
        </p:scale>
        <p:origin x="95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6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9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8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6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5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38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1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6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8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49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53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1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62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0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2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89985-EB7C-4F78-9792-C89785E4778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6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PYTHON WITH AI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Prepared by Sir Haroon</a:t>
            </a:r>
          </a:p>
        </p:txBody>
      </p:sp>
    </p:spTree>
    <p:extLst>
      <p:ext uri="{BB962C8B-B14F-4D97-AF65-F5344CB8AC3E}">
        <p14:creationId xmlns:p14="http://schemas.microsoft.com/office/powerpoint/2010/main" val="7271093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/>
              <a:t>LECTURE 11</a:t>
            </a:r>
            <a:endParaRPr lang="en-US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Dictionary &amp; Dictionary Functions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839896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80531"/>
            <a:ext cx="9001462" cy="921507"/>
          </a:xfrm>
        </p:spPr>
        <p:txBody>
          <a:bodyPr>
            <a:normAutofit/>
          </a:bodyPr>
          <a:lstStyle/>
          <a:p>
            <a:r>
              <a:rPr lang="en-US" sz="5400" b="0" cap="none" dirty="0" smtClean="0">
                <a:effectLst/>
              </a:rPr>
              <a:t>What is a Dictionary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1012370"/>
            <a:ext cx="9001462" cy="5746579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600" dirty="0" smtClean="0">
                <a:effectLst/>
              </a:rPr>
              <a:t>Dictionaries are used to store data values in </a:t>
            </a:r>
            <a:r>
              <a:rPr lang="en-US" sz="2600" dirty="0" err="1" smtClean="0">
                <a:effectLst/>
              </a:rPr>
              <a:t>key:value</a:t>
            </a:r>
            <a:r>
              <a:rPr lang="en-US" sz="2600" dirty="0" smtClean="0">
                <a:effectLst/>
              </a:rPr>
              <a:t> pairs. They are unordered, mutable and do not allow duplicate keys. For example:</a:t>
            </a:r>
          </a:p>
          <a:p>
            <a:pPr algn="l">
              <a:lnSpc>
                <a:spcPct val="150000"/>
              </a:lnSpc>
            </a:pPr>
            <a:r>
              <a:rPr lang="en-US" sz="2600" dirty="0" err="1" smtClean="0">
                <a:effectLst/>
              </a:rPr>
              <a:t>mydictionary</a:t>
            </a:r>
            <a:r>
              <a:rPr lang="en-US" sz="2600" dirty="0" smtClean="0">
                <a:effectLst/>
              </a:rPr>
              <a:t> = {</a:t>
            </a:r>
          </a:p>
          <a:p>
            <a:pPr algn="l">
              <a:lnSpc>
                <a:spcPct val="150000"/>
              </a:lnSpc>
            </a:pPr>
            <a:r>
              <a:rPr lang="en-US" sz="2600" dirty="0" smtClean="0">
                <a:effectLst/>
              </a:rPr>
              <a:t>“name” : “</a:t>
            </a:r>
            <a:r>
              <a:rPr lang="en-US" sz="2600" dirty="0" err="1" smtClean="0">
                <a:effectLst/>
              </a:rPr>
              <a:t>haroon</a:t>
            </a:r>
            <a:r>
              <a:rPr lang="en-US" sz="2600" dirty="0" smtClean="0">
                <a:effectLst/>
              </a:rPr>
              <a:t>”,</a:t>
            </a:r>
          </a:p>
          <a:p>
            <a:pPr algn="l">
              <a:lnSpc>
                <a:spcPct val="150000"/>
              </a:lnSpc>
            </a:pPr>
            <a:r>
              <a:rPr lang="en-US" sz="2600" dirty="0" smtClean="0">
                <a:effectLst/>
              </a:rPr>
              <a:t>“class” : 12,</a:t>
            </a:r>
          </a:p>
          <a:p>
            <a:pPr algn="l">
              <a:lnSpc>
                <a:spcPct val="150000"/>
              </a:lnSpc>
            </a:pPr>
            <a:r>
              <a:rPr lang="en-US" sz="2600" dirty="0" smtClean="0">
                <a:effectLst/>
              </a:rPr>
              <a:t>“marks” : [43,65,87,75]</a:t>
            </a:r>
          </a:p>
          <a:p>
            <a:pPr algn="l">
              <a:lnSpc>
                <a:spcPct val="150000"/>
              </a:lnSpc>
            </a:pPr>
            <a:r>
              <a:rPr lang="en-US" sz="2600" dirty="0" smtClean="0">
                <a:effectLst/>
              </a:rPr>
              <a:t>		      }</a:t>
            </a:r>
          </a:p>
        </p:txBody>
      </p:sp>
    </p:spTree>
    <p:extLst>
      <p:ext uri="{BB962C8B-B14F-4D97-AF65-F5344CB8AC3E}">
        <p14:creationId xmlns:p14="http://schemas.microsoft.com/office/powerpoint/2010/main" val="42783537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0"/>
            <a:ext cx="9001462" cy="802235"/>
          </a:xfrm>
        </p:spPr>
        <p:txBody>
          <a:bodyPr>
            <a:normAutofit fontScale="90000"/>
          </a:bodyPr>
          <a:lstStyle/>
          <a:p>
            <a:r>
              <a:rPr lang="en-US" sz="5400" b="0" cap="none" dirty="0" smtClean="0">
                <a:effectLst/>
              </a:rPr>
              <a:t>Dictionary Usage in AI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931" y="802235"/>
            <a:ext cx="11857220" cy="5746579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dirty="0" smtClean="0">
                <a:effectLst/>
              </a:rPr>
              <a:t>Storing training data: dictionaries are used to map input data to their labels for learning.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dirty="0" smtClean="0">
                <a:effectLst/>
              </a:rPr>
              <a:t>Model Configuration: Every AI model uses a dictionary to pass settings.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dirty="0" smtClean="0">
                <a:effectLst/>
              </a:rPr>
              <a:t>NLP Vocabulary: Tokenizers in </a:t>
            </a:r>
            <a:r>
              <a:rPr lang="en-US" sz="3000" dirty="0" err="1" smtClean="0">
                <a:effectLst/>
              </a:rPr>
              <a:t>chatGPT</a:t>
            </a:r>
            <a:r>
              <a:rPr lang="en-US" sz="3000" dirty="0" smtClean="0">
                <a:effectLst/>
              </a:rPr>
              <a:t> are built on dictionary mapping words to IDs.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dirty="0" smtClean="0">
                <a:effectLst/>
              </a:rPr>
              <a:t>JSON/API responses: Every  AI </a:t>
            </a:r>
            <a:r>
              <a:rPr lang="en-US" sz="3000" dirty="0" err="1" smtClean="0">
                <a:effectLst/>
              </a:rPr>
              <a:t>Api</a:t>
            </a:r>
            <a:r>
              <a:rPr lang="en-US" sz="3000" dirty="0" smtClean="0">
                <a:effectLst/>
              </a:rPr>
              <a:t> returns JSON which is a dictionary.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dirty="0" smtClean="0">
                <a:effectLst/>
              </a:rPr>
              <a:t>Input features for ML models are stored and passed as dictionaries</a:t>
            </a:r>
          </a:p>
        </p:txBody>
      </p:sp>
    </p:spTree>
    <p:extLst>
      <p:ext uri="{BB962C8B-B14F-4D97-AF65-F5344CB8AC3E}">
        <p14:creationId xmlns:p14="http://schemas.microsoft.com/office/powerpoint/2010/main" val="174917972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04931"/>
            <a:ext cx="9001462" cy="839176"/>
          </a:xfrm>
        </p:spPr>
        <p:txBody>
          <a:bodyPr>
            <a:normAutofit/>
          </a:bodyPr>
          <a:lstStyle/>
          <a:p>
            <a:r>
              <a:rPr lang="en-US" sz="5400" b="0" cap="none" dirty="0" smtClean="0">
                <a:effectLst/>
              </a:rPr>
              <a:t>Dictionary Functions I</a:t>
            </a:r>
            <a:endParaRPr lang="en-US" sz="5400" b="0" cap="none" dirty="0"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049038"/>
            <a:ext cx="11947161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 err="1" smtClean="0"/>
              <a:t>myDictionary.keys</a:t>
            </a:r>
            <a:r>
              <a:rPr lang="en-US" sz="3200" dirty="0" smtClean="0"/>
              <a:t>() will return all keys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3200" dirty="0" smtClean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 err="1" smtClean="0"/>
              <a:t>myDictionary.values</a:t>
            </a:r>
            <a:r>
              <a:rPr lang="en-US" sz="3200" dirty="0" smtClean="0"/>
              <a:t>() will return all values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 err="1" smtClean="0"/>
              <a:t>myDictionary.items</a:t>
            </a:r>
            <a:r>
              <a:rPr lang="en-US" sz="3200" dirty="0" smtClean="0"/>
              <a:t>() will return all key value pairs as tuple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 err="1" smtClean="0"/>
              <a:t>myDictionary.get</a:t>
            </a:r>
            <a:r>
              <a:rPr lang="en-US" sz="3200" dirty="0" smtClean="0"/>
              <a:t>(“key”) will return the key according to value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 err="1" smtClean="0"/>
              <a:t>myDictionary.update</a:t>
            </a:r>
            <a:r>
              <a:rPr lang="en-US" sz="3200" dirty="0" smtClean="0"/>
              <a:t>(</a:t>
            </a:r>
            <a:r>
              <a:rPr lang="en-US" sz="3200" dirty="0" err="1" smtClean="0"/>
              <a:t>newDict</a:t>
            </a:r>
            <a:r>
              <a:rPr lang="en-US" sz="3200" dirty="0" smtClean="0"/>
              <a:t>) will insert the specified item in dictionary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5366083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27531"/>
            <a:ext cx="9001462" cy="921507"/>
          </a:xfrm>
        </p:spPr>
        <p:txBody>
          <a:bodyPr>
            <a:normAutofit/>
          </a:bodyPr>
          <a:lstStyle/>
          <a:p>
            <a:r>
              <a:rPr lang="en-US" sz="5400" b="0" cap="none" dirty="0" smtClean="0">
                <a:effectLst/>
              </a:rPr>
              <a:t>Dictionary Functions II</a:t>
            </a:r>
            <a:endParaRPr lang="en-US" sz="5400" b="0" cap="none" dirty="0"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229193"/>
            <a:ext cx="12192000" cy="5174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 err="1" smtClean="0"/>
              <a:t>myDictionary.pop</a:t>
            </a:r>
            <a:r>
              <a:rPr lang="en-US" sz="3200" dirty="0" smtClean="0"/>
              <a:t>(“key”) removes the key and return value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 err="1" smtClean="0"/>
              <a:t>myDictionary.popitem</a:t>
            </a:r>
            <a:r>
              <a:rPr lang="en-US" sz="3200" dirty="0" smtClean="0"/>
              <a:t>() returns last key-value pair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 err="1" smtClean="0"/>
              <a:t>myDictionary.clear</a:t>
            </a:r>
            <a:r>
              <a:rPr lang="en-US" sz="3200" dirty="0" smtClean="0"/>
              <a:t>() removes all pairs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 err="1" smtClean="0"/>
              <a:t>myDictionary.copy</a:t>
            </a:r>
            <a:r>
              <a:rPr lang="en-US" sz="3200" dirty="0" smtClean="0"/>
              <a:t>() create &amp; return copy of your dictionary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 err="1" smtClean="0"/>
              <a:t>myDictionary.setdefault</a:t>
            </a:r>
            <a:r>
              <a:rPr lang="en-US" sz="3200" dirty="0" smtClean="0"/>
              <a:t>(key) returns the value of key if it exists, if not, it returns a default value.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 err="1" smtClean="0"/>
              <a:t>myDictionary.fromkeys</a:t>
            </a:r>
            <a:r>
              <a:rPr lang="en-US" sz="3200" dirty="0" smtClean="0"/>
              <a:t>() creates a new python dictionary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1661406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27531"/>
            <a:ext cx="9001462" cy="921507"/>
          </a:xfrm>
        </p:spPr>
        <p:txBody>
          <a:bodyPr>
            <a:normAutofit/>
          </a:bodyPr>
          <a:lstStyle/>
          <a:p>
            <a:r>
              <a:rPr lang="en-US" sz="6000" b="0" cap="none" dirty="0" smtClean="0">
                <a:effectLst/>
              </a:rPr>
              <a:t>Nested Dictionaries</a:t>
            </a:r>
            <a:endParaRPr lang="en-US" sz="6000" b="0" cap="none" dirty="0">
              <a:effectLst/>
            </a:endParaRP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202" y="1049038"/>
            <a:ext cx="7977531" cy="530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7552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093" y="163969"/>
            <a:ext cx="11811242" cy="259329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800" cap="none" dirty="0" smtClean="0">
                <a:effectLst/>
              </a:rPr>
              <a:t>QUESTION 1:</a:t>
            </a:r>
            <a:r>
              <a:rPr lang="en-US" sz="2800" b="0" cap="none" dirty="0" smtClean="0">
                <a:effectLst/>
              </a:rPr>
              <a:t> Write a program to store following word meanings in a python dictionary : table : “a piece of </a:t>
            </a:r>
            <a:r>
              <a:rPr lang="en-US" sz="2800" b="0" cap="none" dirty="0" err="1" smtClean="0">
                <a:effectLst/>
              </a:rPr>
              <a:t>furniture”,“list</a:t>
            </a:r>
            <a:r>
              <a:rPr lang="en-US" sz="2800" b="0" cap="none" dirty="0" smtClean="0">
                <a:effectLst/>
              </a:rPr>
              <a:t> of facts &amp; figures”</a:t>
            </a:r>
            <a:br>
              <a:rPr lang="en-US" sz="2800" b="0" cap="none" dirty="0" smtClean="0">
                <a:effectLst/>
              </a:rPr>
            </a:br>
            <a:r>
              <a:rPr lang="en-US" sz="2800" b="0" cap="none" dirty="0" smtClean="0">
                <a:effectLst/>
              </a:rPr>
              <a:t>cat : “a small animal”</a:t>
            </a:r>
            <a:endParaRPr lang="en-US" sz="2800" b="0" dirty="0"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093" y="2757267"/>
            <a:ext cx="1142296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 smtClean="0"/>
              <a:t>SOLUTION:</a:t>
            </a:r>
          </a:p>
          <a:p>
            <a:r>
              <a:rPr lang="en-US" sz="3600" dirty="0" err="1" smtClean="0"/>
              <a:t>dict</a:t>
            </a:r>
            <a:r>
              <a:rPr lang="en-US" sz="3600" dirty="0" smtClean="0"/>
              <a:t> </a:t>
            </a:r>
            <a:r>
              <a:rPr lang="en-US" sz="3600" dirty="0"/>
              <a:t>= {</a:t>
            </a:r>
          </a:p>
          <a:p>
            <a:r>
              <a:rPr lang="en-US" sz="3600" dirty="0" smtClean="0"/>
              <a:t> </a:t>
            </a:r>
            <a:r>
              <a:rPr lang="en-US" sz="3600" dirty="0"/>
              <a:t>    "table" : "a piece of </a:t>
            </a:r>
            <a:r>
              <a:rPr lang="en-US" sz="3600" dirty="0" err="1"/>
              <a:t>furniture,list</a:t>
            </a:r>
            <a:r>
              <a:rPr lang="en-US" sz="3600" dirty="0"/>
              <a:t> of facts &amp; figures",</a:t>
            </a:r>
          </a:p>
          <a:p>
            <a:r>
              <a:rPr lang="en-US" sz="3600" dirty="0" smtClean="0"/>
              <a:t> </a:t>
            </a:r>
            <a:r>
              <a:rPr lang="en-US" sz="3600" dirty="0"/>
              <a:t>    "cat" : "a small animal"   </a:t>
            </a:r>
          </a:p>
          <a:p>
            <a:r>
              <a:rPr lang="en-US" sz="3600" dirty="0" smtClean="0"/>
              <a:t> </a:t>
            </a:r>
            <a:r>
              <a:rPr lang="en-US" sz="3600" dirty="0"/>
              <a:t>}</a:t>
            </a:r>
          </a:p>
          <a:p>
            <a:r>
              <a:rPr lang="en-US" sz="3600" dirty="0" smtClean="0"/>
              <a:t>print(</a:t>
            </a:r>
            <a:r>
              <a:rPr lang="en-US" sz="3600" dirty="0" err="1" smtClean="0"/>
              <a:t>dict</a:t>
            </a:r>
            <a:r>
              <a:rPr lang="en-US" sz="3600" dirty="0" smtClean="0"/>
              <a:t>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870708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093" y="0"/>
            <a:ext cx="11811242" cy="1962788"/>
          </a:xfrm>
        </p:spPr>
        <p:txBody>
          <a:bodyPr>
            <a:noAutofit/>
          </a:bodyPr>
          <a:lstStyle/>
          <a:p>
            <a:pPr algn="l"/>
            <a:r>
              <a:rPr lang="en-US" sz="3200" cap="none" dirty="0" smtClean="0">
                <a:effectLst/>
              </a:rPr>
              <a:t>QUESTION </a:t>
            </a:r>
            <a:r>
              <a:rPr lang="en-US" sz="3200" cap="none" dirty="0" smtClean="0">
                <a:effectLst/>
              </a:rPr>
              <a:t>2:</a:t>
            </a:r>
            <a:r>
              <a:rPr lang="en-US" sz="3200" b="0" cap="none" dirty="0" smtClean="0">
                <a:effectLst/>
              </a:rPr>
              <a:t> </a:t>
            </a:r>
            <a:r>
              <a:rPr lang="en-US" sz="3200" b="0" cap="none" dirty="0" smtClean="0">
                <a:effectLst/>
              </a:rPr>
              <a:t>Write a program </a:t>
            </a:r>
            <a:r>
              <a:rPr lang="en-US" sz="3200" b="0" cap="none" dirty="0">
                <a:effectLst/>
              </a:rPr>
              <a:t>to enter marks of 3 subjects from the user and store them in a dictionary. start with an empty dictionary &amp; add one by one. use subject name as key &amp; marks as value.</a:t>
            </a:r>
            <a:endParaRPr lang="en-US" sz="3200" b="0" cap="none" dirty="0"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093" y="1879649"/>
            <a:ext cx="11977979" cy="497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 err="1"/>
              <a:t>mydict</a:t>
            </a:r>
            <a:r>
              <a:rPr lang="en-US" sz="3600" dirty="0"/>
              <a:t> = {}</a:t>
            </a:r>
          </a:p>
          <a:p>
            <a:pPr>
              <a:lnSpc>
                <a:spcPct val="150000"/>
              </a:lnSpc>
            </a:pPr>
            <a:r>
              <a:rPr lang="en-US" sz="3600" dirty="0" err="1"/>
              <a:t>mydict</a:t>
            </a:r>
            <a:r>
              <a:rPr lang="en-US" sz="3600" dirty="0"/>
              <a:t>["English"] = </a:t>
            </a:r>
            <a:r>
              <a:rPr lang="en-US" sz="3600" dirty="0" err="1"/>
              <a:t>int</a:t>
            </a:r>
            <a:r>
              <a:rPr lang="en-US" sz="3600" dirty="0"/>
              <a:t>(input("Enter English marks: "))</a:t>
            </a:r>
          </a:p>
          <a:p>
            <a:pPr>
              <a:lnSpc>
                <a:spcPct val="150000"/>
              </a:lnSpc>
            </a:pPr>
            <a:r>
              <a:rPr lang="en-US" sz="3600" dirty="0" err="1"/>
              <a:t>mydict</a:t>
            </a:r>
            <a:r>
              <a:rPr lang="en-US" sz="3600" dirty="0"/>
              <a:t>["</a:t>
            </a:r>
            <a:r>
              <a:rPr lang="en-US" sz="3600" dirty="0" err="1"/>
              <a:t>Maths</a:t>
            </a:r>
            <a:r>
              <a:rPr lang="en-US" sz="3600" dirty="0"/>
              <a:t>"] = </a:t>
            </a:r>
            <a:r>
              <a:rPr lang="en-US" sz="3600" dirty="0" err="1"/>
              <a:t>int</a:t>
            </a:r>
            <a:r>
              <a:rPr lang="en-US" sz="3600" dirty="0"/>
              <a:t>(input("Enter </a:t>
            </a:r>
            <a:r>
              <a:rPr lang="en-US" sz="3600" dirty="0" err="1"/>
              <a:t>Maths</a:t>
            </a:r>
            <a:r>
              <a:rPr lang="en-US" sz="3600" dirty="0"/>
              <a:t> marks: "))</a:t>
            </a:r>
          </a:p>
          <a:p>
            <a:pPr>
              <a:lnSpc>
                <a:spcPct val="150000"/>
              </a:lnSpc>
            </a:pPr>
            <a:r>
              <a:rPr lang="en-US" sz="3600" dirty="0" err="1"/>
              <a:t>mydict</a:t>
            </a:r>
            <a:r>
              <a:rPr lang="en-US" sz="3600" dirty="0"/>
              <a:t>["Geography"] = </a:t>
            </a:r>
            <a:r>
              <a:rPr lang="en-US" sz="3600" dirty="0" err="1"/>
              <a:t>int</a:t>
            </a:r>
            <a:r>
              <a:rPr lang="en-US" sz="3600" dirty="0"/>
              <a:t>(input("Enter Geography marks: "))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print(</a:t>
            </a:r>
            <a:r>
              <a:rPr lang="en-US" sz="3600" dirty="0" err="1"/>
              <a:t>mydict</a:t>
            </a:r>
            <a:r>
              <a:rPr lang="en-US" sz="3600" dirty="0" smtClean="0"/>
              <a:t>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2280235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093" y="0"/>
            <a:ext cx="11811242" cy="989352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000" cap="none" dirty="0" smtClean="0">
                <a:effectLst/>
              </a:rPr>
              <a:t>QUESTION </a:t>
            </a:r>
            <a:r>
              <a:rPr lang="en-US" sz="2000" cap="none" dirty="0" smtClean="0">
                <a:effectLst/>
              </a:rPr>
              <a:t>3: </a:t>
            </a:r>
            <a:r>
              <a:rPr lang="en-US" sz="2000" b="0" dirty="0" smtClean="0"/>
              <a:t>AI </a:t>
            </a:r>
            <a:r>
              <a:rPr lang="en-US" sz="2000" b="0" dirty="0"/>
              <a:t>systems that predict your grade, loan approval, or job selection all work on stored rules. Today we </a:t>
            </a:r>
            <a:r>
              <a:rPr lang="en-US" sz="2000" b="0" dirty="0" smtClean="0"/>
              <a:t>build </a:t>
            </a:r>
            <a:r>
              <a:rPr lang="en-US" sz="2000" b="0" dirty="0"/>
              <a:t>one!</a:t>
            </a:r>
            <a:endParaRPr lang="en-US" sz="2000" b="0" dirty="0"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095" y="989352"/>
            <a:ext cx="5607158" cy="5868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300" dirty="0" smtClean="0"/>
              <a:t># </a:t>
            </a:r>
            <a:r>
              <a:rPr lang="en-US" sz="2300" dirty="0"/>
              <a:t>Grade rules stored like an AI model's decision table</a:t>
            </a:r>
          </a:p>
          <a:p>
            <a:pPr>
              <a:lnSpc>
                <a:spcPct val="150000"/>
              </a:lnSpc>
            </a:pPr>
            <a:r>
              <a:rPr lang="en-US" sz="2300" dirty="0" err="1"/>
              <a:t>grade_rules</a:t>
            </a:r>
            <a:r>
              <a:rPr lang="en-US" sz="2300" dirty="0"/>
              <a:t> = {</a:t>
            </a:r>
          </a:p>
          <a:p>
            <a:pPr>
              <a:lnSpc>
                <a:spcPct val="150000"/>
              </a:lnSpc>
            </a:pPr>
            <a:r>
              <a:rPr lang="en-US" sz="2300" dirty="0"/>
              <a:t>    "A": 80,</a:t>
            </a:r>
          </a:p>
          <a:p>
            <a:pPr>
              <a:lnSpc>
                <a:spcPct val="150000"/>
              </a:lnSpc>
            </a:pPr>
            <a:r>
              <a:rPr lang="en-US" sz="2300" dirty="0"/>
              <a:t>    "B": 65,</a:t>
            </a:r>
          </a:p>
          <a:p>
            <a:pPr>
              <a:lnSpc>
                <a:spcPct val="150000"/>
              </a:lnSpc>
            </a:pPr>
            <a:r>
              <a:rPr lang="en-US" sz="2300" dirty="0"/>
              <a:t>    "C": 50,</a:t>
            </a:r>
          </a:p>
          <a:p>
            <a:pPr>
              <a:lnSpc>
                <a:spcPct val="150000"/>
              </a:lnSpc>
            </a:pPr>
            <a:r>
              <a:rPr lang="en-US" sz="2300" dirty="0"/>
              <a:t>    "D": 40</a:t>
            </a:r>
          </a:p>
          <a:p>
            <a:pPr>
              <a:lnSpc>
                <a:spcPct val="150000"/>
              </a:lnSpc>
            </a:pPr>
            <a:r>
              <a:rPr lang="en-US" sz="2300" dirty="0" smtClean="0"/>
              <a:t>}</a:t>
            </a:r>
            <a:endParaRPr lang="en-US" sz="2300" dirty="0"/>
          </a:p>
          <a:p>
            <a:pPr>
              <a:lnSpc>
                <a:spcPct val="150000"/>
              </a:lnSpc>
            </a:pPr>
            <a:r>
              <a:rPr lang="en-US" sz="2300" dirty="0"/>
              <a:t>name = input("Enter student name: ")</a:t>
            </a:r>
          </a:p>
          <a:p>
            <a:pPr>
              <a:lnSpc>
                <a:spcPct val="150000"/>
              </a:lnSpc>
            </a:pPr>
            <a:r>
              <a:rPr lang="en-US" sz="2300" dirty="0"/>
              <a:t>marks = </a:t>
            </a:r>
            <a:r>
              <a:rPr lang="en-US" sz="2300" dirty="0" err="1"/>
              <a:t>int</a:t>
            </a:r>
            <a:r>
              <a:rPr lang="en-US" sz="2300" dirty="0"/>
              <a:t>(input("Enter marks out of 100: </a:t>
            </a:r>
            <a:r>
              <a:rPr lang="en-US" sz="2300" dirty="0" smtClean="0"/>
              <a:t>"))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45020" y="1034324"/>
            <a:ext cx="6042378" cy="5851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dirty="0" smtClean="0"/>
              <a:t># AI decision making using dictionary</a:t>
            </a:r>
            <a:br>
              <a:rPr lang="en-US" sz="2100" dirty="0" smtClean="0"/>
            </a:br>
            <a:r>
              <a:rPr lang="en-US" sz="2100" dirty="0" smtClean="0"/>
              <a:t>if marks &gt;= </a:t>
            </a:r>
            <a:r>
              <a:rPr lang="en-US" sz="2100" dirty="0" err="1" smtClean="0"/>
              <a:t>grade_rules</a:t>
            </a:r>
            <a:r>
              <a:rPr lang="en-US" sz="2100" dirty="0" smtClean="0"/>
              <a:t>["A"]:</a:t>
            </a:r>
            <a:br>
              <a:rPr lang="en-US" sz="2100" dirty="0" smtClean="0"/>
            </a:br>
            <a:r>
              <a:rPr lang="en-US" sz="2100" dirty="0" smtClean="0"/>
              <a:t>    print(name + " got Grade A - Excellent!")</a:t>
            </a:r>
            <a:br>
              <a:rPr lang="en-US" sz="2100" dirty="0" smtClean="0"/>
            </a:br>
            <a:r>
              <a:rPr lang="en-US" sz="2100" dirty="0" err="1" smtClean="0"/>
              <a:t>elif</a:t>
            </a:r>
            <a:r>
              <a:rPr lang="en-US" sz="2100" dirty="0" smtClean="0"/>
              <a:t> marks &gt;= </a:t>
            </a:r>
            <a:r>
              <a:rPr lang="en-US" sz="2100" dirty="0" err="1" smtClean="0"/>
              <a:t>grade_rules</a:t>
            </a:r>
            <a:r>
              <a:rPr lang="en-US" sz="2100" dirty="0" smtClean="0"/>
              <a:t>["B"]:</a:t>
            </a:r>
            <a:br>
              <a:rPr lang="en-US" sz="2100" dirty="0" smtClean="0"/>
            </a:br>
            <a:r>
              <a:rPr lang="en-US" sz="2100" dirty="0" smtClean="0"/>
              <a:t>    print(name + " got Grade B - Good!")</a:t>
            </a:r>
            <a:br>
              <a:rPr lang="en-US" sz="2100" dirty="0" smtClean="0"/>
            </a:br>
            <a:r>
              <a:rPr lang="en-US" sz="2100" dirty="0" err="1" smtClean="0"/>
              <a:t>elif</a:t>
            </a:r>
            <a:r>
              <a:rPr lang="en-US" sz="2100" dirty="0" smtClean="0"/>
              <a:t> marks &gt;= </a:t>
            </a:r>
            <a:r>
              <a:rPr lang="en-US" sz="2100" dirty="0" err="1" smtClean="0"/>
              <a:t>grade_rules</a:t>
            </a:r>
            <a:r>
              <a:rPr lang="en-US" sz="2100" dirty="0" smtClean="0"/>
              <a:t>["C"]:</a:t>
            </a:r>
            <a:br>
              <a:rPr lang="en-US" sz="2100" dirty="0" smtClean="0"/>
            </a:br>
            <a:r>
              <a:rPr lang="en-US" sz="2100" dirty="0" smtClean="0"/>
              <a:t>    print(name + " got Grade C - Average")</a:t>
            </a:r>
            <a:br>
              <a:rPr lang="en-US" sz="2100" dirty="0" smtClean="0"/>
            </a:br>
            <a:r>
              <a:rPr lang="en-US" sz="2100" dirty="0" err="1" smtClean="0"/>
              <a:t>elif</a:t>
            </a:r>
            <a:r>
              <a:rPr lang="en-US" sz="2100" dirty="0" smtClean="0"/>
              <a:t> marks &gt;= </a:t>
            </a:r>
            <a:r>
              <a:rPr lang="en-US" sz="2100" dirty="0" err="1" smtClean="0"/>
              <a:t>grade_rules</a:t>
            </a:r>
            <a:r>
              <a:rPr lang="en-US" sz="2100" dirty="0" smtClean="0"/>
              <a:t>["D"]:</a:t>
            </a:r>
            <a:br>
              <a:rPr lang="en-US" sz="2100" dirty="0" smtClean="0"/>
            </a:br>
            <a:r>
              <a:rPr lang="en-US" sz="2100" dirty="0" smtClean="0"/>
              <a:t>    print(name + " got Grade D - Below Average")</a:t>
            </a:r>
            <a:br>
              <a:rPr lang="en-US" sz="2100" dirty="0" smtClean="0"/>
            </a:br>
            <a:r>
              <a:rPr lang="en-US" sz="2100" dirty="0" smtClean="0"/>
              <a:t>else:</a:t>
            </a:r>
            <a:br>
              <a:rPr lang="en-US" sz="2100" dirty="0" smtClean="0"/>
            </a:br>
            <a:r>
              <a:rPr lang="en-US" sz="2100" dirty="0" smtClean="0"/>
              <a:t>    print(name + " got Grade F - Fail")</a:t>
            </a:r>
          </a:p>
        </p:txBody>
      </p:sp>
    </p:spTree>
    <p:extLst>
      <p:ext uri="{BB962C8B-B14F-4D97-AF65-F5344CB8AC3E}">
        <p14:creationId xmlns:p14="http://schemas.microsoft.com/office/powerpoint/2010/main" val="12282106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886" y="66208"/>
            <a:ext cx="11811242" cy="9144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000" cap="none" dirty="0" smtClean="0">
                <a:effectLst/>
              </a:rPr>
              <a:t>QUESTION </a:t>
            </a:r>
            <a:r>
              <a:rPr lang="en-US" sz="2000" cap="none" dirty="0" smtClean="0">
                <a:effectLst/>
              </a:rPr>
              <a:t>4: </a:t>
            </a:r>
            <a:r>
              <a:rPr lang="en-US" sz="2000" b="0" cap="none" dirty="0" smtClean="0"/>
              <a:t>Every shopping app like </a:t>
            </a:r>
            <a:r>
              <a:rPr lang="en-US" sz="2000" b="0" cap="none" dirty="0" err="1" smtClean="0"/>
              <a:t>daraz</a:t>
            </a:r>
            <a:r>
              <a:rPr lang="en-US" sz="2000" b="0" cap="none" dirty="0" smtClean="0"/>
              <a:t> uses a price dictionary in the background. Let's build a mini version!</a:t>
            </a:r>
            <a:r>
              <a:rPr lang="en-US" sz="2000" cap="none" dirty="0" smtClean="0">
                <a:effectLst/>
              </a:rPr>
              <a:t> </a:t>
            </a:r>
            <a:endParaRPr lang="en-US" sz="2000" cap="none" dirty="0">
              <a:effectLst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70896" y="1456543"/>
            <a:ext cx="11811242" cy="51841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endParaRPr lang="en-US" sz="2600" cap="none" dirty="0">
              <a:effectLst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0896" y="682053"/>
            <a:ext cx="4101301" cy="59585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1300" b="0" cap="none" dirty="0" smtClean="0">
                <a:effectLst/>
              </a:rPr>
              <a:t># Product database - like an AI shopping system</a:t>
            </a:r>
          </a:p>
          <a:p>
            <a:pPr algn="l">
              <a:lnSpc>
                <a:spcPct val="150000"/>
              </a:lnSpc>
            </a:pPr>
            <a:r>
              <a:rPr lang="en-US" sz="1300" b="0" cap="none" dirty="0" smtClean="0">
                <a:effectLst/>
              </a:rPr>
              <a:t>shop = {</a:t>
            </a:r>
          </a:p>
          <a:p>
            <a:pPr algn="l">
              <a:lnSpc>
                <a:spcPct val="150000"/>
              </a:lnSpc>
            </a:pPr>
            <a:r>
              <a:rPr lang="en-US" sz="1300" b="0" cap="none" dirty="0" smtClean="0">
                <a:effectLst/>
              </a:rPr>
              <a:t>    "rice":   120,</a:t>
            </a:r>
          </a:p>
          <a:p>
            <a:pPr algn="l">
              <a:lnSpc>
                <a:spcPct val="150000"/>
              </a:lnSpc>
            </a:pPr>
            <a:r>
              <a:rPr lang="en-US" sz="1300" b="0" cap="none" dirty="0" smtClean="0">
                <a:effectLst/>
              </a:rPr>
              <a:t>    "sugar":  90,</a:t>
            </a:r>
          </a:p>
          <a:p>
            <a:pPr algn="l">
              <a:lnSpc>
                <a:spcPct val="150000"/>
              </a:lnSpc>
            </a:pPr>
            <a:r>
              <a:rPr lang="en-US" sz="1300" b="0" cap="none" dirty="0" smtClean="0">
                <a:effectLst/>
              </a:rPr>
              <a:t>    "oil":    350,</a:t>
            </a:r>
          </a:p>
          <a:p>
            <a:pPr algn="l">
              <a:lnSpc>
                <a:spcPct val="150000"/>
              </a:lnSpc>
            </a:pPr>
            <a:r>
              <a:rPr lang="en-US" sz="1300" b="0" cap="none" dirty="0" smtClean="0">
                <a:effectLst/>
              </a:rPr>
              <a:t>    "flour":  80,</a:t>
            </a:r>
          </a:p>
          <a:p>
            <a:pPr algn="l">
              <a:lnSpc>
                <a:spcPct val="150000"/>
              </a:lnSpc>
            </a:pPr>
            <a:r>
              <a:rPr lang="en-US" sz="1300" b="0" cap="none" dirty="0" smtClean="0">
                <a:effectLst/>
              </a:rPr>
              <a:t>    "milk":   160</a:t>
            </a:r>
          </a:p>
          <a:p>
            <a:pPr algn="l">
              <a:lnSpc>
                <a:spcPct val="150000"/>
              </a:lnSpc>
            </a:pPr>
            <a:r>
              <a:rPr lang="en-US" sz="1300" b="0" cap="none" dirty="0" smtClean="0">
                <a:effectLst/>
              </a:rPr>
              <a:t>}</a:t>
            </a:r>
          </a:p>
          <a:p>
            <a:pPr algn="l">
              <a:lnSpc>
                <a:spcPct val="150000"/>
              </a:lnSpc>
            </a:pPr>
            <a:r>
              <a:rPr lang="en-US" sz="1300" b="0" cap="none" dirty="0" smtClean="0">
                <a:effectLst/>
              </a:rPr>
              <a:t>print("Available items:", list(</a:t>
            </a:r>
            <a:r>
              <a:rPr lang="en-US" sz="1300" b="0" cap="none" dirty="0" err="1" smtClean="0">
                <a:effectLst/>
              </a:rPr>
              <a:t>shop.keys</a:t>
            </a:r>
            <a:r>
              <a:rPr lang="en-US" sz="1300" b="0" cap="none" dirty="0" smtClean="0">
                <a:effectLst/>
              </a:rPr>
              <a:t>()))</a:t>
            </a:r>
          </a:p>
          <a:p>
            <a:pPr algn="l">
              <a:lnSpc>
                <a:spcPct val="150000"/>
              </a:lnSpc>
            </a:pPr>
            <a:r>
              <a:rPr lang="en-US" sz="1300" b="0" cap="none" dirty="0" smtClean="0">
                <a:effectLst/>
              </a:rPr>
              <a:t>print("-----------------------------")</a:t>
            </a:r>
          </a:p>
          <a:p>
            <a:pPr algn="l">
              <a:lnSpc>
                <a:spcPct val="150000"/>
              </a:lnSpc>
            </a:pPr>
            <a:endParaRPr lang="en-US" sz="1300" b="0" cap="none" dirty="0" smtClean="0">
              <a:effectLst/>
            </a:endParaRPr>
          </a:p>
          <a:p>
            <a:pPr algn="l">
              <a:lnSpc>
                <a:spcPct val="150000"/>
              </a:lnSpc>
            </a:pPr>
            <a:r>
              <a:rPr lang="en-US" sz="1300" b="0" cap="none" dirty="0" smtClean="0">
                <a:effectLst/>
              </a:rPr>
              <a:t>total = 0</a:t>
            </a:r>
          </a:p>
          <a:p>
            <a:pPr algn="l">
              <a:lnSpc>
                <a:spcPct val="150000"/>
              </a:lnSpc>
            </a:pPr>
            <a:r>
              <a:rPr lang="en-US" sz="1300" b="0" cap="none" dirty="0" err="1" smtClean="0">
                <a:effectLst/>
              </a:rPr>
              <a:t>shopping_list</a:t>
            </a:r>
            <a:r>
              <a:rPr lang="en-US" sz="1300" b="0" cap="none" dirty="0" smtClean="0">
                <a:effectLst/>
              </a:rPr>
              <a:t> = []</a:t>
            </a:r>
          </a:p>
          <a:p>
            <a:pPr algn="l">
              <a:lnSpc>
                <a:spcPct val="150000"/>
              </a:lnSpc>
            </a:pPr>
            <a:endParaRPr lang="en-US" sz="1300" b="0" cap="none" dirty="0" smtClean="0">
              <a:effectLst/>
            </a:endParaRPr>
          </a:p>
          <a:p>
            <a:pPr algn="l">
              <a:lnSpc>
                <a:spcPct val="150000"/>
              </a:lnSpc>
            </a:pPr>
            <a:r>
              <a:rPr lang="en-US" sz="1300" b="0" cap="none" dirty="0" smtClean="0">
                <a:effectLst/>
              </a:rPr>
              <a:t>item1 = input("Enter item 1: ").lower()</a:t>
            </a:r>
          </a:p>
          <a:p>
            <a:pPr algn="l">
              <a:lnSpc>
                <a:spcPct val="150000"/>
              </a:lnSpc>
            </a:pPr>
            <a:r>
              <a:rPr lang="en-US" sz="1300" b="0" cap="none" dirty="0" smtClean="0">
                <a:effectLst/>
              </a:rPr>
              <a:t>qty1  = </a:t>
            </a:r>
            <a:r>
              <a:rPr lang="en-US" sz="1300" b="0" cap="none" dirty="0" err="1" smtClean="0">
                <a:effectLst/>
              </a:rPr>
              <a:t>int</a:t>
            </a:r>
            <a:r>
              <a:rPr lang="en-US" sz="1300" b="0" cap="none" dirty="0" smtClean="0">
                <a:effectLst/>
              </a:rPr>
              <a:t>(input("Enter quantity: "))</a:t>
            </a:r>
          </a:p>
          <a:p>
            <a:pPr algn="l">
              <a:lnSpc>
                <a:spcPct val="150000"/>
              </a:lnSpc>
            </a:pPr>
            <a:endParaRPr lang="en-US" sz="1300" b="0" cap="none" dirty="0" smtClean="0">
              <a:effectLst/>
            </a:endParaRPr>
          </a:p>
          <a:p>
            <a:pPr algn="l">
              <a:lnSpc>
                <a:spcPct val="150000"/>
              </a:lnSpc>
            </a:pPr>
            <a:r>
              <a:rPr lang="en-US" sz="1300" b="0" cap="none" dirty="0" smtClean="0">
                <a:effectLst/>
              </a:rPr>
              <a:t>item2 = input("Enter item 2: ").lower()</a:t>
            </a:r>
          </a:p>
          <a:p>
            <a:pPr algn="l">
              <a:lnSpc>
                <a:spcPct val="150000"/>
              </a:lnSpc>
            </a:pPr>
            <a:r>
              <a:rPr lang="en-US" sz="1300" b="0" cap="none" dirty="0" smtClean="0">
                <a:effectLst/>
              </a:rPr>
              <a:t>qty2  = </a:t>
            </a:r>
            <a:r>
              <a:rPr lang="en-US" sz="1300" b="0" cap="none" dirty="0" err="1" smtClean="0">
                <a:effectLst/>
              </a:rPr>
              <a:t>int</a:t>
            </a:r>
            <a:r>
              <a:rPr lang="en-US" sz="1300" b="0" cap="none" dirty="0" smtClean="0">
                <a:effectLst/>
              </a:rPr>
              <a:t>(input("Enter quantity: "))</a:t>
            </a:r>
            <a:endParaRPr lang="en-US" sz="1300" b="0" cap="none" dirty="0">
              <a:effectLst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89398" y="1456543"/>
            <a:ext cx="4101301" cy="51841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endParaRPr lang="en-US" sz="1600" b="0" cap="none" dirty="0">
              <a:effectLst/>
            </a:endParaRPr>
          </a:p>
          <a:p>
            <a:pPr algn="l">
              <a:lnSpc>
                <a:spcPct val="150000"/>
              </a:lnSpc>
            </a:pPr>
            <a:r>
              <a:rPr lang="en-US" sz="1600" b="0" cap="none" dirty="0">
                <a:effectLst/>
              </a:rPr>
              <a:t># Calculate bill using dictionary prices</a:t>
            </a:r>
          </a:p>
          <a:p>
            <a:pPr algn="l">
              <a:lnSpc>
                <a:spcPct val="150000"/>
              </a:lnSpc>
            </a:pPr>
            <a:r>
              <a:rPr lang="en-US" sz="1600" b="0" cap="none" dirty="0">
                <a:effectLst/>
              </a:rPr>
              <a:t>if item1 in shop:</a:t>
            </a:r>
          </a:p>
          <a:p>
            <a:pPr algn="l">
              <a:lnSpc>
                <a:spcPct val="150000"/>
              </a:lnSpc>
            </a:pPr>
            <a:r>
              <a:rPr lang="en-US" sz="1600" b="0" cap="none" dirty="0">
                <a:effectLst/>
              </a:rPr>
              <a:t>    total = total + shop[item1] * qty1</a:t>
            </a:r>
          </a:p>
          <a:p>
            <a:pPr algn="l">
              <a:lnSpc>
                <a:spcPct val="150000"/>
              </a:lnSpc>
            </a:pPr>
            <a:r>
              <a:rPr lang="en-US" sz="1600" b="0" cap="none" dirty="0">
                <a:effectLst/>
              </a:rPr>
              <a:t>    </a:t>
            </a:r>
            <a:r>
              <a:rPr lang="en-US" sz="1600" b="0" cap="none" dirty="0" err="1">
                <a:effectLst/>
              </a:rPr>
              <a:t>shopping_list.append</a:t>
            </a:r>
            <a:r>
              <a:rPr lang="en-US" sz="1600" b="0" cap="none" dirty="0">
                <a:effectLst/>
              </a:rPr>
              <a:t>(item1)</a:t>
            </a:r>
          </a:p>
          <a:p>
            <a:pPr algn="l">
              <a:lnSpc>
                <a:spcPct val="150000"/>
              </a:lnSpc>
            </a:pPr>
            <a:r>
              <a:rPr lang="en-US" sz="1600" b="0" cap="none" dirty="0">
                <a:effectLst/>
              </a:rPr>
              <a:t>else:</a:t>
            </a:r>
          </a:p>
          <a:p>
            <a:pPr algn="l">
              <a:lnSpc>
                <a:spcPct val="150000"/>
              </a:lnSpc>
            </a:pPr>
            <a:r>
              <a:rPr lang="en-US" sz="1600" b="0" cap="none" dirty="0">
                <a:effectLst/>
              </a:rPr>
              <a:t>    print(item1 + " is not available in store")</a:t>
            </a:r>
          </a:p>
          <a:p>
            <a:pPr algn="l">
              <a:lnSpc>
                <a:spcPct val="150000"/>
              </a:lnSpc>
            </a:pPr>
            <a:endParaRPr lang="en-US" sz="1600" b="0" cap="none" dirty="0">
              <a:effectLst/>
            </a:endParaRPr>
          </a:p>
          <a:p>
            <a:pPr algn="l">
              <a:lnSpc>
                <a:spcPct val="150000"/>
              </a:lnSpc>
            </a:pPr>
            <a:r>
              <a:rPr lang="en-US" sz="1600" b="0" cap="none" dirty="0">
                <a:effectLst/>
              </a:rPr>
              <a:t>if item2 in shop:</a:t>
            </a:r>
          </a:p>
          <a:p>
            <a:pPr algn="l">
              <a:lnSpc>
                <a:spcPct val="150000"/>
              </a:lnSpc>
            </a:pPr>
            <a:r>
              <a:rPr lang="en-US" sz="1600" b="0" cap="none" dirty="0">
                <a:effectLst/>
              </a:rPr>
              <a:t>    total = total + shop[item2] * qty2</a:t>
            </a:r>
          </a:p>
          <a:p>
            <a:pPr algn="l">
              <a:lnSpc>
                <a:spcPct val="150000"/>
              </a:lnSpc>
            </a:pPr>
            <a:r>
              <a:rPr lang="en-US" sz="1600" b="0" cap="none" dirty="0">
                <a:effectLst/>
              </a:rPr>
              <a:t>    </a:t>
            </a:r>
            <a:r>
              <a:rPr lang="en-US" sz="1600" b="0" cap="none" dirty="0" err="1">
                <a:effectLst/>
              </a:rPr>
              <a:t>shopping_list.append</a:t>
            </a:r>
            <a:r>
              <a:rPr lang="en-US" sz="1600" b="0" cap="none" dirty="0">
                <a:effectLst/>
              </a:rPr>
              <a:t>(item2)</a:t>
            </a:r>
          </a:p>
          <a:p>
            <a:pPr algn="l">
              <a:lnSpc>
                <a:spcPct val="150000"/>
              </a:lnSpc>
            </a:pPr>
            <a:r>
              <a:rPr lang="en-US" sz="1600" b="0" cap="none" dirty="0">
                <a:effectLst/>
              </a:rPr>
              <a:t>else:</a:t>
            </a:r>
          </a:p>
          <a:p>
            <a:pPr algn="l">
              <a:lnSpc>
                <a:spcPct val="150000"/>
              </a:lnSpc>
            </a:pPr>
            <a:r>
              <a:rPr lang="en-US" sz="1600" b="0" cap="none" dirty="0">
                <a:effectLst/>
              </a:rPr>
              <a:t>    print(item2 + " is not available in store")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8090699" y="1456543"/>
            <a:ext cx="4101301" cy="51841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endParaRPr lang="en-US" sz="1600" b="0" cap="none" dirty="0">
              <a:effectLst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097187" y="1456543"/>
            <a:ext cx="4101301" cy="51841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1800" b="0" cap="none" dirty="0">
                <a:effectLst/>
              </a:rPr>
              <a:t>print("-----------------------------")</a:t>
            </a:r>
          </a:p>
          <a:p>
            <a:pPr algn="l">
              <a:lnSpc>
                <a:spcPct val="150000"/>
              </a:lnSpc>
            </a:pPr>
            <a:r>
              <a:rPr lang="en-US" sz="1800" b="0" cap="none" dirty="0">
                <a:effectLst/>
              </a:rPr>
              <a:t>print("Items bought:", </a:t>
            </a:r>
            <a:r>
              <a:rPr lang="en-US" sz="1800" b="0" cap="none" dirty="0" err="1">
                <a:effectLst/>
              </a:rPr>
              <a:t>shopping_list</a:t>
            </a:r>
            <a:r>
              <a:rPr lang="en-US" sz="1800" b="0" cap="none" dirty="0">
                <a:effectLst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sz="1800" b="0" cap="none" dirty="0">
                <a:effectLst/>
              </a:rPr>
              <a:t>print("Total Bill: </a:t>
            </a:r>
            <a:r>
              <a:rPr lang="en-US" sz="1800" b="0" cap="none" dirty="0" err="1">
                <a:effectLst/>
              </a:rPr>
              <a:t>Rs</a:t>
            </a:r>
            <a:r>
              <a:rPr lang="en-US" sz="1800" b="0" cap="none" dirty="0">
                <a:effectLst/>
              </a:rPr>
              <a:t>." + </a:t>
            </a:r>
            <a:r>
              <a:rPr lang="en-US" sz="1800" b="0" cap="none" dirty="0" err="1">
                <a:effectLst/>
              </a:rPr>
              <a:t>str</a:t>
            </a:r>
            <a:r>
              <a:rPr lang="en-US" sz="1800" b="0" cap="none" dirty="0">
                <a:effectLst/>
              </a:rPr>
              <a:t>(total))</a:t>
            </a:r>
          </a:p>
          <a:p>
            <a:pPr algn="l">
              <a:lnSpc>
                <a:spcPct val="150000"/>
              </a:lnSpc>
            </a:pPr>
            <a:endParaRPr lang="en-US" sz="1800" b="0" cap="none" dirty="0" smtClean="0">
              <a:effectLst/>
            </a:endParaRPr>
          </a:p>
          <a:p>
            <a:pPr algn="l">
              <a:lnSpc>
                <a:spcPct val="150000"/>
              </a:lnSpc>
            </a:pPr>
            <a:r>
              <a:rPr lang="en-US" sz="1800" b="0" cap="none" dirty="0" smtClean="0">
                <a:effectLst/>
              </a:rPr>
              <a:t>#Bonus </a:t>
            </a:r>
            <a:r>
              <a:rPr lang="en-US" sz="1800" b="0" cap="none" dirty="0">
                <a:effectLst/>
              </a:rPr>
              <a:t>- AI </a:t>
            </a:r>
            <a:r>
              <a:rPr lang="en-US" sz="1800" b="0" cap="none" dirty="0" smtClean="0">
                <a:effectLst/>
              </a:rPr>
              <a:t>style recommendation</a:t>
            </a:r>
            <a:endParaRPr lang="en-US" sz="1800" b="0" cap="none" dirty="0">
              <a:effectLst/>
            </a:endParaRPr>
          </a:p>
          <a:p>
            <a:pPr algn="l">
              <a:lnSpc>
                <a:spcPct val="150000"/>
              </a:lnSpc>
            </a:pPr>
            <a:r>
              <a:rPr lang="en-US" sz="1800" b="0" cap="none" dirty="0">
                <a:effectLst/>
              </a:rPr>
              <a:t>if total &gt; 500:</a:t>
            </a:r>
          </a:p>
          <a:p>
            <a:pPr algn="l">
              <a:lnSpc>
                <a:spcPct val="150000"/>
              </a:lnSpc>
            </a:pPr>
            <a:r>
              <a:rPr lang="en-US" sz="1800" b="0" cap="none" dirty="0">
                <a:effectLst/>
              </a:rPr>
              <a:t>    print("AI Tip: You qualify for FREE delivery!")</a:t>
            </a:r>
          </a:p>
          <a:p>
            <a:pPr algn="l">
              <a:lnSpc>
                <a:spcPct val="150000"/>
              </a:lnSpc>
            </a:pPr>
            <a:r>
              <a:rPr lang="en-US" sz="1800" b="0" cap="none" dirty="0">
                <a:effectLst/>
              </a:rPr>
              <a:t>else:</a:t>
            </a:r>
          </a:p>
          <a:p>
            <a:pPr algn="l">
              <a:lnSpc>
                <a:spcPct val="150000"/>
              </a:lnSpc>
            </a:pPr>
            <a:r>
              <a:rPr lang="en-US" sz="1800" b="0" cap="none" dirty="0">
                <a:effectLst/>
              </a:rPr>
              <a:t> </a:t>
            </a:r>
            <a:r>
              <a:rPr lang="en-US" sz="1800" b="0" cap="none" dirty="0" smtClean="0">
                <a:effectLst/>
              </a:rPr>
              <a:t>print</a:t>
            </a:r>
            <a:r>
              <a:rPr lang="en-US" sz="1800" b="0" cap="none" dirty="0">
                <a:effectLst/>
              </a:rPr>
              <a:t>("AI Tip: Add more items to get free delivery!")</a:t>
            </a:r>
          </a:p>
        </p:txBody>
      </p:sp>
    </p:spTree>
    <p:extLst>
      <p:ext uri="{BB962C8B-B14F-4D97-AF65-F5344CB8AC3E}">
        <p14:creationId xmlns:p14="http://schemas.microsoft.com/office/powerpoint/2010/main" val="296103103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1354" y="1969477"/>
            <a:ext cx="11310424" cy="2215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3800" dirty="0" smtClean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THE END</a:t>
            </a:r>
            <a:endParaRPr lang="en-US" sz="13800" dirty="0"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87280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729</TotalTime>
  <Words>697</Words>
  <Application>Microsoft Office PowerPoint</Application>
  <PresentationFormat>Widescreen</PresentationFormat>
  <Paragraphs>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Bookman Old Style</vt:lpstr>
      <vt:lpstr>Rockwell</vt:lpstr>
      <vt:lpstr>Wingdings</vt:lpstr>
      <vt:lpstr>Damask</vt:lpstr>
      <vt:lpstr>PYTHON WITH AI</vt:lpstr>
      <vt:lpstr>LECTURE 11</vt:lpstr>
      <vt:lpstr>What is a Dictionary</vt:lpstr>
      <vt:lpstr>Dictionary Usage in AI</vt:lpstr>
      <vt:lpstr>Dictionary Functions I</vt:lpstr>
      <vt:lpstr>Dictionary Functions II</vt:lpstr>
      <vt:lpstr>Nested Dictionaries</vt:lpstr>
      <vt:lpstr>QUESTION 1: Write a program to store following word meanings in a python dictionary : table : “a piece of furniture”,“list of facts &amp; figures” cat : “a small animal”</vt:lpstr>
      <vt:lpstr>QUESTION 2: Write a program to enter marks of 3 subjects from the user and store them in a dictionary. start with an empty dictionary &amp; add one by one. use subject name as key &amp; marks as value.</vt:lpstr>
      <vt:lpstr>QUESTION 3: AI systems that predict your grade, loan approval, or job selection all work on stored rules. Today we build one!</vt:lpstr>
      <vt:lpstr>QUESTION 4: Every shopping app like daraz uses a price dictionary in the background. Let's build a mini version!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WITH AI</dc:title>
  <dc:creator>Haroon Ali</dc:creator>
  <cp:lastModifiedBy>Haroon Ali</cp:lastModifiedBy>
  <cp:revision>118</cp:revision>
  <dcterms:created xsi:type="dcterms:W3CDTF">2026-05-24T19:41:59Z</dcterms:created>
  <dcterms:modified xsi:type="dcterms:W3CDTF">2026-06-05T12:53:35Z</dcterms:modified>
</cp:coreProperties>
</file>