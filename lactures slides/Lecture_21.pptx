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60" r:id="rId4"/>
    <p:sldId id="276" r:id="rId5"/>
    <p:sldId id="277" r:id="rId6"/>
    <p:sldId id="278" r:id="rId7"/>
    <p:sldId id="279" r:id="rId8"/>
    <p:sldId id="280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192" autoAdjust="0"/>
  </p:normalViewPr>
  <p:slideViewPr>
    <p:cSldViewPr snapToGrid="0">
      <p:cViewPr varScale="1">
        <p:scale>
          <a:sx n="64" d="100"/>
          <a:sy n="64" d="100"/>
        </p:scale>
        <p:origin x="9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LECTURE 21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Membership Operators &amp; Modules</a:t>
            </a:r>
          </a:p>
        </p:txBody>
      </p:sp>
    </p:spTree>
    <p:extLst>
      <p:ext uri="{BB962C8B-B14F-4D97-AF65-F5344CB8AC3E}">
        <p14:creationId xmlns:p14="http://schemas.microsoft.com/office/powerpoint/2010/main" val="7271093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465618"/>
            <a:ext cx="9542424" cy="921507"/>
          </a:xfrm>
        </p:spPr>
        <p:txBody>
          <a:bodyPr>
            <a:normAutofit fontScale="90000"/>
          </a:bodyPr>
          <a:lstStyle/>
          <a:p>
            <a:r>
              <a:rPr lang="en-US" sz="5400" dirty="0" smtClean="0">
                <a:effectLst/>
              </a:rPr>
              <a:t>Membership Operators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581996"/>
            <a:ext cx="9542424" cy="4219197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in</a:t>
            </a:r>
            <a:r>
              <a:rPr lang="en-US" sz="3200" dirty="0" smtClean="0">
                <a:effectLst/>
              </a:rPr>
              <a:t> and </a:t>
            </a:r>
            <a:r>
              <a:rPr lang="en-US" sz="3200" b="1" dirty="0" smtClean="0">
                <a:effectLst/>
              </a:rPr>
              <a:t>not in</a:t>
            </a:r>
            <a:r>
              <a:rPr lang="en-US" sz="3200" dirty="0" smtClean="0">
                <a:effectLst/>
              </a:rPr>
              <a:t> check whether a value exists inside a list, string, or dictionary. They return True or False.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print(“AI” in “I love AI”)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# Output: True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85734"/>
            <a:ext cx="12037102" cy="921507"/>
          </a:xfrm>
        </p:spPr>
        <p:txBody>
          <a:bodyPr>
            <a:noAutofit/>
          </a:bodyPr>
          <a:lstStyle/>
          <a:p>
            <a:r>
              <a:rPr lang="en-US" sz="3600" dirty="0" smtClean="0">
                <a:effectLst/>
              </a:rPr>
              <a:t>Membership Operators — More Examples</a:t>
            </a:r>
            <a:endParaRPr lang="en-US" sz="36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0259" y="1372134"/>
            <a:ext cx="9542424" cy="504365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fruits = [“apple”, “mango”, “banana”]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print(“mango” in fruits)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# Output: True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student = {“name”: “Ali”, “marks”: 85}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print(“marks” in student)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# Output: True (checks keys, not values)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894" y="104930"/>
            <a:ext cx="11842228" cy="712567"/>
          </a:xfrm>
        </p:spPr>
        <p:txBody>
          <a:bodyPr>
            <a:noAutofit/>
          </a:bodyPr>
          <a:lstStyle/>
          <a:p>
            <a:r>
              <a:rPr lang="en-US" sz="4000" dirty="0" smtClean="0">
                <a:effectLst/>
              </a:rPr>
              <a:t>Membership Operators Usage in AI</a:t>
            </a:r>
            <a:endParaRPr lang="en-US" sz="40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894" y="862468"/>
            <a:ext cx="11842227" cy="5628273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dirty="0" smtClean="0">
                <a:effectLst/>
              </a:rPr>
              <a:t>Vocabulary checks</a:t>
            </a:r>
            <a:r>
              <a:rPr lang="en-US" sz="2800" dirty="0" smtClean="0">
                <a:effectLst/>
              </a:rPr>
              <a:t> — NLP systems check if a word exists in their known vocabulary before processing it.</a:t>
            </a:r>
          </a:p>
          <a:p>
            <a:pPr algn="l">
              <a:lnSpc>
                <a:spcPct val="150000"/>
              </a:lnSpc>
            </a:pPr>
            <a:r>
              <a:rPr lang="en-US" sz="2800" b="1" dirty="0" smtClean="0">
                <a:effectLst/>
              </a:rPr>
              <a:t>Label validation</a:t>
            </a:r>
            <a:r>
              <a:rPr lang="en-US" sz="2800" dirty="0" smtClean="0">
                <a:effectLst/>
              </a:rPr>
              <a:t> — AI systems check if a predicted label exists in the list of known classes before accepting it.</a:t>
            </a:r>
          </a:p>
          <a:p>
            <a:pPr algn="l">
              <a:lnSpc>
                <a:spcPct val="150000"/>
              </a:lnSpc>
            </a:pPr>
            <a:r>
              <a:rPr lang="en-US" sz="2800" dirty="0" smtClean="0">
                <a:effectLst/>
              </a:rPr>
              <a:t>valid_commands = [“start”, “stop”, “pause”]</a:t>
            </a:r>
          </a:p>
          <a:p>
            <a:pPr algn="l">
              <a:lnSpc>
                <a:spcPct val="150000"/>
              </a:lnSpc>
            </a:pPr>
            <a:r>
              <a:rPr lang="en-US" sz="2800" dirty="0" smtClean="0">
                <a:effectLst/>
              </a:rPr>
              <a:t>cmd = input(“Enter command: ”)</a:t>
            </a:r>
          </a:p>
          <a:p>
            <a:pPr algn="l">
              <a:lnSpc>
                <a:spcPct val="150000"/>
              </a:lnSpc>
            </a:pPr>
            <a:r>
              <a:rPr lang="en-US" sz="2800" dirty="0" smtClean="0">
                <a:effectLst/>
              </a:rPr>
              <a:t>if cmd in valid_commands:</a:t>
            </a:r>
          </a:p>
          <a:p>
            <a:pPr algn="l">
              <a:lnSpc>
                <a:spcPct val="150000"/>
              </a:lnSpc>
            </a:pPr>
            <a:r>
              <a:rPr lang="en-US" sz="2800" dirty="0" smtClean="0">
                <a:effectLst/>
              </a:rPr>
              <a:t>    print(“Command accepted”)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65814"/>
            <a:ext cx="9001462" cy="921507"/>
          </a:xfrm>
        </p:spPr>
        <p:txBody>
          <a:bodyPr>
            <a:normAutofit/>
          </a:bodyPr>
          <a:lstStyle/>
          <a:p>
            <a:r>
              <a:rPr lang="en-US" dirty="0" smtClean="0">
                <a:effectLst/>
              </a:rPr>
              <a:t>What is a Module?</a:t>
            </a:r>
            <a:endParaRPr lang="en-US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872" y="1087321"/>
            <a:ext cx="11857220" cy="5613282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600" dirty="0" smtClean="0">
                <a:effectLst/>
              </a:rPr>
              <a:t>A module is a file containing pre-written Python code (functions and variables) that you can reuse in your own program using the </a:t>
            </a:r>
            <a:r>
              <a:rPr lang="en-US" sz="3600" b="1" dirty="0" smtClean="0">
                <a:effectLst/>
              </a:rPr>
              <a:t>import</a:t>
            </a:r>
            <a:r>
              <a:rPr lang="en-US" sz="3600" dirty="0" smtClean="0">
                <a:effectLst/>
              </a:rPr>
              <a:t> keyword.</a:t>
            </a:r>
          </a:p>
          <a:p>
            <a:pPr algn="l">
              <a:lnSpc>
                <a:spcPct val="150000"/>
              </a:lnSpc>
            </a:pPr>
            <a:r>
              <a:rPr lang="en-US" sz="3600" dirty="0" smtClean="0">
                <a:effectLst/>
              </a:rPr>
              <a:t>import math</a:t>
            </a:r>
          </a:p>
          <a:p>
            <a:pPr algn="l">
              <a:lnSpc>
                <a:spcPct val="150000"/>
              </a:lnSpc>
            </a:pPr>
            <a:r>
              <a:rPr lang="en-US" sz="3600" dirty="0" smtClean="0">
                <a:effectLst/>
              </a:rPr>
              <a:t>print(math.sqrt(16))</a:t>
            </a:r>
          </a:p>
          <a:p>
            <a:pPr algn="l">
              <a:lnSpc>
                <a:spcPct val="150000"/>
              </a:lnSpc>
            </a:pPr>
            <a:r>
              <a:rPr lang="en-US" sz="3600" dirty="0" smtClean="0">
                <a:effectLst/>
              </a:rPr>
              <a:t># Output: 4.0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337" y="194872"/>
            <a:ext cx="9001462" cy="697577"/>
          </a:xfrm>
        </p:spPr>
        <p:txBody>
          <a:bodyPr>
            <a:noAutofit/>
          </a:bodyPr>
          <a:lstStyle/>
          <a:p>
            <a:r>
              <a:rPr lang="en-US" sz="4400" dirty="0" smtClean="0">
                <a:effectLst/>
              </a:rPr>
              <a:t>Useful Built-in Modules</a:t>
            </a:r>
            <a:endParaRPr lang="en-US" sz="4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882" y="1027360"/>
            <a:ext cx="11887200" cy="57182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math</a:t>
            </a:r>
            <a:r>
              <a:rPr lang="en-US" sz="3200" dirty="0" smtClean="0">
                <a:effectLst/>
              </a:rPr>
              <a:t> — provides mathematical functions like sqrt(), pow(), and pi.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print(math.pi)   # 3.14159...</a:t>
            </a:r>
          </a:p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random</a:t>
            </a:r>
            <a:r>
              <a:rPr lang="en-US" sz="3200" dirty="0" smtClean="0">
                <a:effectLst/>
              </a:rPr>
              <a:t> — generates random numbers.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print(random.randint(1, 10))</a:t>
            </a:r>
          </a:p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datetime</a:t>
            </a:r>
            <a:r>
              <a:rPr lang="en-US" sz="3200" dirty="0" smtClean="0">
                <a:effectLst/>
              </a:rPr>
              <a:t> — works with dates and times.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print(datetime.datetime.now())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66" y="194872"/>
            <a:ext cx="9001462" cy="727557"/>
          </a:xfrm>
        </p:spPr>
        <p:txBody>
          <a:bodyPr>
            <a:normAutofit/>
          </a:bodyPr>
          <a:lstStyle/>
          <a:p>
            <a:r>
              <a:rPr lang="en-US" sz="4400" dirty="0" smtClean="0">
                <a:effectLst/>
              </a:rPr>
              <a:t>Modules Usage in AI</a:t>
            </a:r>
            <a:endParaRPr lang="en-US" sz="4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902" y="1027360"/>
            <a:ext cx="11902190" cy="57182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AI libraries</a:t>
            </a:r>
            <a:r>
              <a:rPr lang="en-US" sz="3200" dirty="0" smtClean="0">
                <a:effectLst/>
              </a:rPr>
              <a:t> such as numpy, pandas, and tensorflow are simply modules — files full of pre-written code that AI developers import and reuse.</a:t>
            </a:r>
          </a:p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The random module</a:t>
            </a:r>
            <a:r>
              <a:rPr lang="en-US" sz="3200" dirty="0" smtClean="0">
                <a:effectLst/>
              </a:rPr>
              <a:t> is commonly used to shuffle training data so a model doesn’t learn the data’s original order.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import random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print(random.randint(1, 100))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 fontScale="90000"/>
          </a:bodyPr>
          <a:lstStyle/>
          <a:p>
            <a:r>
              <a:rPr lang="en-US" sz="5400" dirty="0" smtClean="0">
                <a:effectLst/>
              </a:rPr>
              <a:t>Exercise Questions 1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9736" y="1087854"/>
            <a:ext cx="11392525" cy="5718214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 smtClean="0">
                <a:effectLst/>
              </a:rPr>
              <a:t>QUESTION 1: </a:t>
            </a:r>
            <a:r>
              <a:rPr lang="en-US" sz="3200" dirty="0" smtClean="0">
                <a:effectLst/>
              </a:rPr>
              <a:t>Use the in operator to check whether a user-entered age exists in a list of allowed ages: [18, 19, 20, 21, 22</a:t>
            </a:r>
            <a:r>
              <a:rPr lang="en-US" sz="3200" dirty="0" smtClean="0">
                <a:effectLst/>
              </a:rPr>
              <a:t>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effectLst/>
              </a:rPr>
              <a:t>QUESTION 2 (AI THEMED): </a:t>
            </a:r>
            <a:r>
              <a:rPr lang="en-US" sz="3200" dirty="0">
                <a:effectLst/>
              </a:rPr>
              <a:t>Import the random module and generate 5 random “accuracy” scores between 60 and 100. Store them in a list, then use the in operator to check if 90 appears in the list</a:t>
            </a:r>
            <a:r>
              <a:rPr lang="en-US" sz="3200" dirty="0" smtClean="0">
                <a:effectLst/>
              </a:rPr>
              <a:t>.</a:t>
            </a:r>
            <a:endParaRPr lang="en-US" sz="3200" dirty="0" smtClean="0">
              <a:effectLst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3200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1504</TotalTime>
  <Words>400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Rockwell</vt:lpstr>
      <vt:lpstr>Damask</vt:lpstr>
      <vt:lpstr>PYTHON WITH AI</vt:lpstr>
      <vt:lpstr>LECTURE 21</vt:lpstr>
      <vt:lpstr>Membership Operators</vt:lpstr>
      <vt:lpstr>Membership Operators — More Examples</vt:lpstr>
      <vt:lpstr>Membership Operators Usage in AI</vt:lpstr>
      <vt:lpstr>What is a Module?</vt:lpstr>
      <vt:lpstr>Useful Built-in Modules</vt:lpstr>
      <vt:lpstr>Modules Usage in AI</vt:lpstr>
      <vt:lpstr>Exercise Questions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162</cp:revision>
  <dcterms:created xsi:type="dcterms:W3CDTF">2026-05-24T19:41:59Z</dcterms:created>
  <dcterms:modified xsi:type="dcterms:W3CDTF">2026-06-30T15:00:35Z</dcterms:modified>
</cp:coreProperties>
</file>